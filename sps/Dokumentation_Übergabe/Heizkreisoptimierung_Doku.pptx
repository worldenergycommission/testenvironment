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theme/themeOverride3.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4"/>
  </p:sldMasterIdLst>
  <p:notesMasterIdLst>
    <p:notesMasterId r:id="rId10"/>
  </p:notesMasterIdLst>
  <p:sldIdLst>
    <p:sldId id="2147480690" r:id="rId5"/>
    <p:sldId id="264" r:id="rId6"/>
    <p:sldId id="2147480709" r:id="rId7"/>
    <p:sldId id="2147480712" r:id="rId8"/>
    <p:sldId id="2147480689" r:id="rId9"/>
  </p:sldIdLst>
  <p:sldSz cx="18288000" cy="10287000"/>
  <p:notesSz cx="6858000" cy="9144000"/>
  <p:embeddedFontLst>
    <p:embeddedFont>
      <p:font typeface="Canva Sans Bold" panose="020B0604020202020204" charset="0"/>
      <p:regular r:id="rId11"/>
      <p:bold r:id="rId12"/>
      <p:italic r:id="rId13"/>
      <p:boldItalic r:id="rId14"/>
    </p:embeddedFont>
    <p:embeddedFont>
      <p:font typeface="Helvetica" panose="020B0604020202020204" pitchFamily="34" charset="0"/>
      <p:regular r:id="rId15"/>
      <p:bold r:id="rId16"/>
      <p:italic r:id="rId17"/>
      <p:boldItalic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1B63B"/>
    <a:srgbClr val="1B242C"/>
    <a:srgbClr val="8A8B86"/>
    <a:srgbClr val="03E0B5"/>
    <a:srgbClr val="3F4251"/>
    <a:srgbClr val="242832"/>
    <a:srgbClr val="323442"/>
    <a:srgbClr val="3F42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628"/>
    <p:restoredTop sz="94768"/>
  </p:normalViewPr>
  <p:slideViewPr>
    <p:cSldViewPr snapToGrid="0">
      <p:cViewPr varScale="1">
        <p:scale>
          <a:sx n="64" d="100"/>
          <a:sy n="64" d="100"/>
        </p:scale>
        <p:origin x="40" y="6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customXml" Target="../customXml/item2.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font" Target="fonts/font1.fntdata"/><Relationship Id="rId5" Type="http://schemas.openxmlformats.org/officeDocument/2006/relationships/slide" Target="slides/slide1.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font" Target="fonts/font4.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AT"/>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C04106-A3DA-414D-A7EE-A5983B87157F}" type="datetimeFigureOut">
              <a:rPr lang="de-AT" smtClean="0"/>
              <a:t>08.04.2025</a:t>
            </a:fld>
            <a:endParaRPr lang="de-AT"/>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AT"/>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8762A97-D53B-4D12-9E2C-C1C467CD5310}" type="slidenum">
              <a:rPr lang="de-AT" smtClean="0"/>
              <a:t>‹Nr.›</a:t>
            </a:fld>
            <a:endParaRPr lang="de-AT"/>
          </a:p>
        </p:txBody>
      </p:sp>
    </p:spTree>
    <p:extLst>
      <p:ext uri="{BB962C8B-B14F-4D97-AF65-F5344CB8AC3E}">
        <p14:creationId xmlns:p14="http://schemas.microsoft.com/office/powerpoint/2010/main" val="34293176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718B9A-095A-957A-ADBB-F100B27E187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87228498-9318-A87C-969B-4CB945CF585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11A9C2B-EA1B-9690-9746-E69410C9D0CD}"/>
              </a:ext>
            </a:extLst>
          </p:cNvPr>
          <p:cNvSpPr>
            <a:spLocks noGrp="1"/>
          </p:cNvSpPr>
          <p:nvPr>
            <p:ph type="body" idx="1"/>
          </p:nvPr>
        </p:nvSpPr>
        <p:spPr/>
        <p:txBody>
          <a:bodyPr/>
          <a:lstStyle/>
          <a:p>
            <a:endParaRPr lang="de-AT" dirty="0"/>
          </a:p>
        </p:txBody>
      </p:sp>
      <p:sp>
        <p:nvSpPr>
          <p:cNvPr id="4" name="Foliennummernplatzhalter 3">
            <a:extLst>
              <a:ext uri="{FF2B5EF4-FFF2-40B4-BE49-F238E27FC236}">
                <a16:creationId xmlns:a16="http://schemas.microsoft.com/office/drawing/2014/main" id="{BE8EC1F3-011F-4238-364B-1F355226EAC3}"/>
              </a:ext>
            </a:extLst>
          </p:cNvPr>
          <p:cNvSpPr>
            <a:spLocks noGrp="1"/>
          </p:cNvSpPr>
          <p:nvPr>
            <p:ph type="sldNum" sz="quarter" idx="5"/>
          </p:nvPr>
        </p:nvSpPr>
        <p:spPr/>
        <p:txBody>
          <a:bodyPr/>
          <a:lstStyle/>
          <a:p>
            <a:fld id="{C8762A97-D53B-4D12-9E2C-C1C467CD5310}" type="slidenum">
              <a:rPr lang="de-AT" smtClean="0"/>
              <a:t>1</a:t>
            </a:fld>
            <a:endParaRPr lang="de-AT"/>
          </a:p>
        </p:txBody>
      </p:sp>
    </p:spTree>
    <p:extLst>
      <p:ext uri="{BB962C8B-B14F-4D97-AF65-F5344CB8AC3E}">
        <p14:creationId xmlns:p14="http://schemas.microsoft.com/office/powerpoint/2010/main" val="3602323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DCF98-58FA-1910-1BAC-E9D750BDA3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E01263-E841-ED2D-8977-FA4D3B46EC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562C47-7672-6131-926D-28A498D4ABF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CB11AAA-4E78-A68A-99C0-EA55200E72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BD6FFC1-1062-C84B-842A-D985726CB551}"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470738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hemeOverride" Target="../theme/themeOverride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hemeOverride" Target="../theme/themeOverride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themeOverride" Target="../theme/themeOverride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hyperlink" Target="https://www.google.com/search?q=efficientio&amp;rlz=1C5CHFA_enAT1046AT1046&amp;oq=efficientio+&amp;gs_lcrp=EgZjaHJvbWUqBggAEEUYOzIGCAAQRRg7Mg0IARAuGK8BGMcBGIAEMgYIAhAjGCcyBggDEEUYPDIGCAQQRRg8MgYIBRBFGDwyBggGEEUYPDIGCAcQRRg80gEIMTY3MmowajeoAgCwAgA&amp;sourceid=chrome&amp;ie=UTF-8" TargetMode="External"/><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F4251"/>
        </a:solidFill>
        <a:effectLst/>
      </p:bgPr>
    </p:bg>
    <p:spTree>
      <p:nvGrpSpPr>
        <p:cNvPr id="1" name="">
          <a:extLst>
            <a:ext uri="{FF2B5EF4-FFF2-40B4-BE49-F238E27FC236}">
              <a16:creationId xmlns:a16="http://schemas.microsoft.com/office/drawing/2014/main" id="{ADAAB54A-AB4B-C8BE-EE89-EA3AD130241A}"/>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325A04B0-FC2E-9424-56E1-AF7261FE70D2}"/>
              </a:ext>
            </a:extLst>
          </p:cNvPr>
          <p:cNvGrpSpPr/>
          <p:nvPr/>
        </p:nvGrpSpPr>
        <p:grpSpPr>
          <a:xfrm>
            <a:off x="0" y="9998267"/>
            <a:ext cx="9144000" cy="288733"/>
            <a:chOff x="0" y="0"/>
            <a:chExt cx="2408296" cy="76045"/>
          </a:xfrm>
          <a:solidFill>
            <a:srgbClr val="71B63B"/>
          </a:solidFill>
        </p:grpSpPr>
        <p:sp>
          <p:nvSpPr>
            <p:cNvPr id="3" name="Freeform 3">
              <a:extLst>
                <a:ext uri="{FF2B5EF4-FFF2-40B4-BE49-F238E27FC236}">
                  <a16:creationId xmlns:a16="http://schemas.microsoft.com/office/drawing/2014/main" id="{3F92563C-5A5A-6D3F-36AF-4A79853E99D3}"/>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grpFill/>
          </p:spPr>
          <p:txBody>
            <a:bodyPr/>
            <a:lstStyle/>
            <a:p>
              <a:endParaRPr lang="de-AT"/>
            </a:p>
          </p:txBody>
        </p:sp>
        <p:sp>
          <p:nvSpPr>
            <p:cNvPr id="4" name="TextBox 4">
              <a:extLst>
                <a:ext uri="{FF2B5EF4-FFF2-40B4-BE49-F238E27FC236}">
                  <a16:creationId xmlns:a16="http://schemas.microsoft.com/office/drawing/2014/main" id="{F58EF508-91C5-7D26-1294-C7E32E9EE8BF}"/>
                </a:ext>
              </a:extLst>
            </p:cNvPr>
            <p:cNvSpPr txBox="1"/>
            <p:nvPr/>
          </p:nvSpPr>
          <p:spPr>
            <a:xfrm>
              <a:off x="0" y="-38100"/>
              <a:ext cx="2408296" cy="114145"/>
            </a:xfrm>
            <a:prstGeom prst="rect">
              <a:avLst/>
            </a:prstGeom>
            <a:grpFill/>
          </p:spPr>
          <p:txBody>
            <a:bodyPr lIns="50800" tIns="50800" rIns="50800" bIns="50800" rtlCol="0" anchor="ctr"/>
            <a:lstStyle/>
            <a:p>
              <a:pPr algn="ctr">
                <a:lnSpc>
                  <a:spcPts val="2659"/>
                </a:lnSpc>
                <a:spcBef>
                  <a:spcPct val="0"/>
                </a:spcBef>
              </a:pPr>
              <a:endParaRPr/>
            </a:p>
          </p:txBody>
        </p:sp>
      </p:grpSp>
      <p:pic>
        <p:nvPicPr>
          <p:cNvPr id="9" name="Grafik 8" descr="Ein Bild, das Text, Schrift, Grafiken, Logo enthält.&#10;&#10;Automatisch generierte Beschreibung">
            <a:extLst>
              <a:ext uri="{FF2B5EF4-FFF2-40B4-BE49-F238E27FC236}">
                <a16:creationId xmlns:a16="http://schemas.microsoft.com/office/drawing/2014/main" id="{1172CE4A-0D42-F60E-03AB-C26BA5C00F02}"/>
              </a:ext>
            </a:extLst>
          </p:cNvPr>
          <p:cNvPicPr>
            <a:picLocks noChangeAspect="1"/>
          </p:cNvPicPr>
          <p:nvPr/>
        </p:nvPicPr>
        <p:blipFill>
          <a:blip r:embed="rId4">
            <a:extLst>
              <a:ext uri="{28A0092B-C50C-407E-A947-70E740481C1C}">
                <a14:useLocalDpi xmlns:a14="http://schemas.microsoft.com/office/drawing/2010/main" val="0"/>
              </a:ext>
            </a:extLst>
          </a:blip>
          <a:srcRect b="5630"/>
          <a:stretch/>
        </p:blipFill>
        <p:spPr>
          <a:xfrm>
            <a:off x="4870979" y="1313854"/>
            <a:ext cx="8546042" cy="2500118"/>
          </a:xfrm>
          <a:prstGeom prst="rect">
            <a:avLst/>
          </a:prstGeom>
        </p:spPr>
      </p:pic>
      <p:sp>
        <p:nvSpPr>
          <p:cNvPr id="5" name="TextBox 3">
            <a:extLst>
              <a:ext uri="{FF2B5EF4-FFF2-40B4-BE49-F238E27FC236}">
                <a16:creationId xmlns:a16="http://schemas.microsoft.com/office/drawing/2014/main" id="{2B934BB9-FC5D-5F9B-60F0-1E6D4E52024B}"/>
              </a:ext>
            </a:extLst>
          </p:cNvPr>
          <p:cNvSpPr txBox="1"/>
          <p:nvPr/>
        </p:nvSpPr>
        <p:spPr>
          <a:xfrm>
            <a:off x="2383114" y="4515804"/>
            <a:ext cx="13521772" cy="2462213"/>
          </a:xfrm>
          <a:prstGeom prst="rect">
            <a:avLst/>
          </a:prstGeom>
        </p:spPr>
        <p:txBody>
          <a:bodyPr wrap="square" lIns="0" tIns="0" rIns="0" bIns="0" rtlCol="0" anchor="t">
            <a:spAutoFit/>
          </a:bodyPr>
          <a:lstStyle/>
          <a:p>
            <a:pPr algn="ctr">
              <a:lnSpc>
                <a:spcPts val="9600"/>
              </a:lnSpc>
            </a:pPr>
            <a:r>
              <a:rPr lang="en-US" sz="9000" b="1" dirty="0" err="1">
                <a:solidFill>
                  <a:schemeClr val="bg1"/>
                </a:solidFill>
                <a:latin typeface="Calibri" panose="020F0502020204030204" pitchFamily="34" charset="0"/>
                <a:cs typeface="Calibri" panose="020F0502020204030204" pitchFamily="34" charset="0"/>
              </a:rPr>
              <a:t>Anleitung</a:t>
            </a:r>
            <a:r>
              <a:rPr lang="en-US" sz="9000" b="1" dirty="0">
                <a:solidFill>
                  <a:schemeClr val="bg1"/>
                </a:solidFill>
                <a:latin typeface="Calibri" panose="020F0502020204030204" pitchFamily="34" charset="0"/>
                <a:cs typeface="Calibri" panose="020F0502020204030204" pitchFamily="34" charset="0"/>
              </a:rPr>
              <a:t> der </a:t>
            </a:r>
            <a:r>
              <a:rPr lang="en-US" sz="9000" b="1" dirty="0" err="1">
                <a:solidFill>
                  <a:schemeClr val="bg1"/>
                </a:solidFill>
                <a:latin typeface="Calibri" panose="020F0502020204030204" pitchFamily="34" charset="0"/>
                <a:cs typeface="Calibri" panose="020F0502020204030204" pitchFamily="34" charset="0"/>
              </a:rPr>
              <a:t>Heizkreisoptimierung</a:t>
            </a:r>
            <a:endParaRPr lang="en-US" sz="90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646965185"/>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F4251"/>
        </a:solidFill>
        <a:effectLst/>
      </p:bgPr>
    </p:bg>
    <p:spTree>
      <p:nvGrpSpPr>
        <p:cNvPr id="1" name=""/>
        <p:cNvGrpSpPr/>
        <p:nvPr/>
      </p:nvGrpSpPr>
      <p:grpSpPr>
        <a:xfrm>
          <a:off x="0" y="0"/>
          <a:ext cx="0" cy="0"/>
          <a:chOff x="0" y="0"/>
          <a:chExt cx="0" cy="0"/>
        </a:xfrm>
      </p:grpSpPr>
      <p:sp>
        <p:nvSpPr>
          <p:cNvPr id="3" name="TextBox 3"/>
          <p:cNvSpPr txBox="1"/>
          <p:nvPr/>
        </p:nvSpPr>
        <p:spPr>
          <a:xfrm>
            <a:off x="1573748" y="2333322"/>
            <a:ext cx="10959085" cy="1219200"/>
          </a:xfrm>
          <a:prstGeom prst="rect">
            <a:avLst/>
          </a:prstGeom>
        </p:spPr>
        <p:txBody>
          <a:bodyPr lIns="0" tIns="0" rIns="0" bIns="0" rtlCol="0" anchor="t">
            <a:spAutoFit/>
          </a:bodyPr>
          <a:lstStyle/>
          <a:p>
            <a:pPr>
              <a:lnSpc>
                <a:spcPts val="9600"/>
              </a:lnSpc>
            </a:pPr>
            <a:r>
              <a:rPr lang="en-US" sz="8000" b="1" dirty="0">
                <a:solidFill>
                  <a:srgbClr val="FFFBFB"/>
                </a:solidFill>
                <a:latin typeface="Calibri" panose="020F0502020204030204" pitchFamily="34" charset="0"/>
                <a:cs typeface="Calibri" panose="020F0502020204030204" pitchFamily="34" charset="0"/>
              </a:rPr>
              <a:t>CONFIDENTIALITY</a:t>
            </a:r>
            <a:r>
              <a:rPr lang="en-US" sz="8000" dirty="0">
                <a:solidFill>
                  <a:srgbClr val="FFFBFB"/>
                </a:solidFill>
                <a:latin typeface="Calibri" panose="020F0502020204030204" pitchFamily="34" charset="0"/>
                <a:cs typeface="Calibri" panose="020F0502020204030204" pitchFamily="34" charset="0"/>
              </a:rPr>
              <a:t>​</a:t>
            </a:r>
          </a:p>
        </p:txBody>
      </p:sp>
      <p:sp>
        <p:nvSpPr>
          <p:cNvPr id="9" name="TextBox 9"/>
          <p:cNvSpPr txBox="1"/>
          <p:nvPr/>
        </p:nvSpPr>
        <p:spPr>
          <a:xfrm rot="5400000">
            <a:off x="17017582" y="1358361"/>
            <a:ext cx="1582638" cy="165100"/>
          </a:xfrm>
          <a:prstGeom prst="rect">
            <a:avLst/>
          </a:prstGeom>
        </p:spPr>
        <p:txBody>
          <a:bodyPr lIns="0" tIns="0" rIns="0" bIns="0" rtlCol="0" anchor="t">
            <a:spAutoFit/>
          </a:bodyPr>
          <a:lstStyle/>
          <a:p>
            <a:pPr algn="ctr">
              <a:lnSpc>
                <a:spcPts val="1399"/>
              </a:lnSpc>
            </a:pPr>
            <a:r>
              <a:rPr lang="en-US" sz="999">
                <a:solidFill>
                  <a:srgbClr val="1E2735"/>
                </a:solidFill>
                <a:latin typeface="Canva Sans Bold"/>
              </a:rPr>
              <a:t>STRICTLY CONFIDENTIAL​</a:t>
            </a:r>
          </a:p>
        </p:txBody>
      </p:sp>
      <p:sp>
        <p:nvSpPr>
          <p:cNvPr id="10" name="TextBox 4">
            <a:extLst>
              <a:ext uri="{FF2B5EF4-FFF2-40B4-BE49-F238E27FC236}">
                <a16:creationId xmlns:a16="http://schemas.microsoft.com/office/drawing/2014/main" id="{1D84CFF5-7E45-0840-EB9D-932F26A00644}"/>
              </a:ext>
            </a:extLst>
          </p:cNvPr>
          <p:cNvSpPr txBox="1"/>
          <p:nvPr/>
        </p:nvSpPr>
        <p:spPr>
          <a:xfrm>
            <a:off x="1573748" y="3786114"/>
            <a:ext cx="7570252" cy="514349"/>
          </a:xfrm>
          <a:prstGeom prst="rect">
            <a:avLst/>
          </a:prstGeom>
        </p:spPr>
        <p:txBody>
          <a:bodyPr lIns="0" tIns="0" rIns="0" bIns="0" rtlCol="0" anchor="t">
            <a:spAutoFit/>
          </a:bodyPr>
          <a:lstStyle/>
          <a:p>
            <a:pPr>
              <a:lnSpc>
                <a:spcPts val="4200"/>
              </a:lnSpc>
            </a:pPr>
            <a:r>
              <a:rPr lang="en-US" sz="3000" dirty="0">
                <a:solidFill>
                  <a:srgbClr val="FFFBFB"/>
                </a:solidFill>
                <a:latin typeface="Calibri" panose="020F0502020204030204" pitchFamily="34" charset="0"/>
                <a:cs typeface="Calibri" panose="020F0502020204030204" pitchFamily="34" charset="0"/>
              </a:rPr>
              <a:t>This presentation is confidential.​</a:t>
            </a:r>
          </a:p>
        </p:txBody>
      </p:sp>
      <p:sp>
        <p:nvSpPr>
          <p:cNvPr id="11" name="TextBox 5">
            <a:extLst>
              <a:ext uri="{FF2B5EF4-FFF2-40B4-BE49-F238E27FC236}">
                <a16:creationId xmlns:a16="http://schemas.microsoft.com/office/drawing/2014/main" id="{CE78A88B-84F2-5A27-2783-AF764E1B972C}"/>
              </a:ext>
            </a:extLst>
          </p:cNvPr>
          <p:cNvSpPr txBox="1"/>
          <p:nvPr/>
        </p:nvSpPr>
        <p:spPr>
          <a:xfrm>
            <a:off x="1573748" y="4557638"/>
            <a:ext cx="10445774" cy="2850524"/>
          </a:xfrm>
          <a:prstGeom prst="rect">
            <a:avLst/>
          </a:prstGeom>
        </p:spPr>
        <p:txBody>
          <a:bodyPr lIns="0" tIns="0" rIns="0" bIns="0" rtlCol="0" anchor="t">
            <a:spAutoFit/>
          </a:bodyPr>
          <a:lstStyle/>
          <a:p>
            <a:pPr>
              <a:lnSpc>
                <a:spcPts val="2799"/>
              </a:lnSpc>
              <a:spcBef>
                <a:spcPct val="0"/>
              </a:spcBef>
            </a:pPr>
            <a:r>
              <a:rPr lang="en-US" sz="1999" dirty="0">
                <a:solidFill>
                  <a:srgbClr val="FFFBFB"/>
                </a:solidFill>
                <a:latin typeface="Calibri" panose="020F0502020204030204" pitchFamily="34" charset="0"/>
                <a:cs typeface="Calibri" panose="020F0502020204030204" pitchFamily="34" charset="0"/>
              </a:rPr>
              <a:t>All content and information in this presentation is the property of </a:t>
            </a:r>
            <a:r>
              <a:rPr lang="en-US" sz="1999" dirty="0" err="1">
                <a:solidFill>
                  <a:srgbClr val="FFFBFB"/>
                </a:solidFill>
                <a:latin typeface="Calibri" panose="020F0502020204030204" pitchFamily="34" charset="0"/>
                <a:cs typeface="Calibri" panose="020F0502020204030204" pitchFamily="34" charset="0"/>
              </a:rPr>
              <a:t>EneRies</a:t>
            </a:r>
            <a:r>
              <a:rPr lang="en-US" sz="1999" dirty="0">
                <a:solidFill>
                  <a:srgbClr val="FFFBFB"/>
                </a:solidFill>
                <a:latin typeface="Calibri" panose="020F0502020204030204" pitchFamily="34" charset="0"/>
                <a:cs typeface="Calibri" panose="020F0502020204030204" pitchFamily="34" charset="0"/>
              </a:rPr>
              <a:t> GmbH and may never be disclosed to third parties. All contents from this presentation are not public and must therefore be viewed with the utmost care regarding the protection of the contents. ​</a:t>
            </a:r>
          </a:p>
          <a:p>
            <a:pPr>
              <a:lnSpc>
                <a:spcPts val="2799"/>
              </a:lnSpc>
              <a:spcBef>
                <a:spcPct val="0"/>
              </a:spcBef>
            </a:pPr>
            <a:endParaRPr lang="en-US" sz="1999" dirty="0">
              <a:solidFill>
                <a:srgbClr val="FFFBFB"/>
              </a:solidFill>
              <a:latin typeface="Calibri" panose="020F0502020204030204" pitchFamily="34" charset="0"/>
              <a:cs typeface="Calibri" panose="020F0502020204030204" pitchFamily="34" charset="0"/>
            </a:endParaRPr>
          </a:p>
          <a:p>
            <a:pPr>
              <a:lnSpc>
                <a:spcPts val="2799"/>
              </a:lnSpc>
              <a:spcBef>
                <a:spcPct val="0"/>
              </a:spcBef>
            </a:pPr>
            <a:r>
              <a:rPr lang="en-US" sz="1999" dirty="0">
                <a:solidFill>
                  <a:srgbClr val="FFFBFB"/>
                </a:solidFill>
                <a:latin typeface="Calibri" panose="020F0502020204030204" pitchFamily="34" charset="0"/>
                <a:cs typeface="Calibri" panose="020F0502020204030204" pitchFamily="34" charset="0"/>
              </a:rPr>
              <a:t>In addition, the following presentation contains trade or business secrets or other confidential information. If you are not the addressee and gain access to the content in error, you are expressly prohibited from using the content, copying or distributing this message. Please notify us and destroy the received presentation immediately. Thank you. ​</a:t>
            </a:r>
          </a:p>
        </p:txBody>
      </p:sp>
      <p:pic>
        <p:nvPicPr>
          <p:cNvPr id="4" name="Grafik 3" descr="Ein Bild, das Text, Schrift, Grafiken, Logo enthält.&#10;&#10;Automatisch generierte Beschreibung">
            <a:extLst>
              <a:ext uri="{FF2B5EF4-FFF2-40B4-BE49-F238E27FC236}">
                <a16:creationId xmlns:a16="http://schemas.microsoft.com/office/drawing/2014/main" id="{DED4B919-9B00-7D58-386F-94DAC895373E}"/>
              </a:ext>
            </a:extLst>
          </p:cNvPr>
          <p:cNvPicPr>
            <a:picLocks noChangeAspect="1"/>
          </p:cNvPicPr>
          <p:nvPr/>
        </p:nvPicPr>
        <p:blipFill>
          <a:blip r:embed="rId2" cstate="print">
            <a:extLst>
              <a:ext uri="{28A0092B-C50C-407E-A947-70E740481C1C}">
                <a14:useLocalDpi xmlns:a14="http://schemas.microsoft.com/office/drawing/2010/main" val="0"/>
              </a:ext>
            </a:extLst>
          </a:blip>
          <a:srcRect b="5630"/>
          <a:stretch/>
        </p:blipFill>
        <p:spPr>
          <a:xfrm>
            <a:off x="130561" y="172274"/>
            <a:ext cx="3041847" cy="889883"/>
          </a:xfrm>
          <a:prstGeom prst="rect">
            <a:avLst/>
          </a:prstGeom>
        </p:spPr>
      </p:pic>
      <p:grpSp>
        <p:nvGrpSpPr>
          <p:cNvPr id="2" name="Group 2">
            <a:extLst>
              <a:ext uri="{FF2B5EF4-FFF2-40B4-BE49-F238E27FC236}">
                <a16:creationId xmlns:a16="http://schemas.microsoft.com/office/drawing/2014/main" id="{24311784-1E61-FA09-694B-731577B9E53E}"/>
              </a:ext>
            </a:extLst>
          </p:cNvPr>
          <p:cNvGrpSpPr/>
          <p:nvPr/>
        </p:nvGrpSpPr>
        <p:grpSpPr>
          <a:xfrm>
            <a:off x="0" y="9998267"/>
            <a:ext cx="9144000" cy="288733"/>
            <a:chOff x="0" y="0"/>
            <a:chExt cx="2408296" cy="76045"/>
          </a:xfrm>
          <a:solidFill>
            <a:srgbClr val="71B63B"/>
          </a:solidFill>
        </p:grpSpPr>
        <p:sp>
          <p:nvSpPr>
            <p:cNvPr id="5" name="Freeform 3">
              <a:extLst>
                <a:ext uri="{FF2B5EF4-FFF2-40B4-BE49-F238E27FC236}">
                  <a16:creationId xmlns:a16="http://schemas.microsoft.com/office/drawing/2014/main" id="{155A3FFC-04BE-2717-4FAA-C1B1173BCA3C}"/>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grpFill/>
          </p:spPr>
          <p:txBody>
            <a:bodyPr/>
            <a:lstStyle/>
            <a:p>
              <a:endParaRPr lang="de-AT"/>
            </a:p>
          </p:txBody>
        </p:sp>
        <p:sp>
          <p:nvSpPr>
            <p:cNvPr id="13" name="TextBox 4">
              <a:extLst>
                <a:ext uri="{FF2B5EF4-FFF2-40B4-BE49-F238E27FC236}">
                  <a16:creationId xmlns:a16="http://schemas.microsoft.com/office/drawing/2014/main" id="{19B5EC8F-E542-8B40-BE71-8989838DFAC0}"/>
                </a:ext>
              </a:extLst>
            </p:cNvPr>
            <p:cNvSpPr txBox="1"/>
            <p:nvPr/>
          </p:nvSpPr>
          <p:spPr>
            <a:xfrm>
              <a:off x="0" y="-38100"/>
              <a:ext cx="2408296" cy="114145"/>
            </a:xfrm>
            <a:prstGeom prst="rect">
              <a:avLst/>
            </a:prstGeom>
            <a:grpFill/>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F4251"/>
        </a:solidFill>
        <a:effectLst/>
      </p:bgPr>
    </p:bg>
    <p:spTree>
      <p:nvGrpSpPr>
        <p:cNvPr id="1" name="">
          <a:extLst>
            <a:ext uri="{FF2B5EF4-FFF2-40B4-BE49-F238E27FC236}">
              <a16:creationId xmlns:a16="http://schemas.microsoft.com/office/drawing/2014/main" id="{AA50B388-46C6-3D69-1CA1-E3800F13FF16}"/>
            </a:ext>
          </a:extLst>
        </p:cNvPr>
        <p:cNvGrpSpPr/>
        <p:nvPr/>
      </p:nvGrpSpPr>
      <p:grpSpPr>
        <a:xfrm>
          <a:off x="0" y="0"/>
          <a:ext cx="0" cy="0"/>
          <a:chOff x="0" y="0"/>
          <a:chExt cx="0" cy="0"/>
        </a:xfrm>
      </p:grpSpPr>
      <p:sp>
        <p:nvSpPr>
          <p:cNvPr id="118" name="TextBox 6">
            <a:extLst>
              <a:ext uri="{FF2B5EF4-FFF2-40B4-BE49-F238E27FC236}">
                <a16:creationId xmlns:a16="http://schemas.microsoft.com/office/drawing/2014/main" id="{9BD814E9-43F3-4535-0D7F-4AB2F185D051}"/>
              </a:ext>
            </a:extLst>
          </p:cNvPr>
          <p:cNvSpPr txBox="1"/>
          <p:nvPr/>
        </p:nvSpPr>
        <p:spPr>
          <a:xfrm>
            <a:off x="914398" y="4954756"/>
            <a:ext cx="13587664" cy="6623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a:spAutoFit/>
          </a:bodyPr>
          <a:lstStyle/>
          <a:p>
            <a:pPr>
              <a:lnSpc>
                <a:spcPct val="150000"/>
              </a:lnSpc>
              <a:buSzPct val="100000"/>
              <a:defRPr sz="2400">
                <a:solidFill>
                  <a:srgbClr val="F0F2F6"/>
                </a:solidFill>
                <a:latin typeface="Montserrat Bold"/>
                <a:ea typeface="Montserrat Bold"/>
                <a:cs typeface="Montserrat Bold"/>
                <a:sym typeface="Montserrat Bold"/>
              </a:defRPr>
            </a:pPr>
            <a:endParaRPr lang="de-DE" sz="3200" dirty="0">
              <a:latin typeface="Calibri" panose="020F0502020204030204" pitchFamily="34" charset="0"/>
              <a:cs typeface="Calibri" panose="020F0502020204030204" pitchFamily="34" charset="0"/>
            </a:endParaRPr>
          </a:p>
        </p:txBody>
      </p:sp>
      <p:grpSp>
        <p:nvGrpSpPr>
          <p:cNvPr id="2" name="Group 2">
            <a:extLst>
              <a:ext uri="{FF2B5EF4-FFF2-40B4-BE49-F238E27FC236}">
                <a16:creationId xmlns:a16="http://schemas.microsoft.com/office/drawing/2014/main" id="{5E0BE330-53D3-8556-7969-8C1C484A9209}"/>
              </a:ext>
            </a:extLst>
          </p:cNvPr>
          <p:cNvGrpSpPr/>
          <p:nvPr/>
        </p:nvGrpSpPr>
        <p:grpSpPr>
          <a:xfrm>
            <a:off x="0" y="9998267"/>
            <a:ext cx="9144000" cy="288733"/>
            <a:chOff x="0" y="0"/>
            <a:chExt cx="2408296" cy="76045"/>
          </a:xfrm>
          <a:solidFill>
            <a:srgbClr val="71B63B"/>
          </a:solidFill>
        </p:grpSpPr>
        <p:sp>
          <p:nvSpPr>
            <p:cNvPr id="3" name="Freeform 3">
              <a:extLst>
                <a:ext uri="{FF2B5EF4-FFF2-40B4-BE49-F238E27FC236}">
                  <a16:creationId xmlns:a16="http://schemas.microsoft.com/office/drawing/2014/main" id="{A0C56F23-E649-3ED1-5D22-A3B816E174BE}"/>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grpFill/>
          </p:spPr>
          <p:txBody>
            <a:bodyPr/>
            <a:lstStyle/>
            <a:p>
              <a:endParaRPr lang="de-AT"/>
            </a:p>
          </p:txBody>
        </p:sp>
        <p:sp>
          <p:nvSpPr>
            <p:cNvPr id="4" name="TextBox 4">
              <a:extLst>
                <a:ext uri="{FF2B5EF4-FFF2-40B4-BE49-F238E27FC236}">
                  <a16:creationId xmlns:a16="http://schemas.microsoft.com/office/drawing/2014/main" id="{A2F812F1-F11F-3138-3225-FD45589E3D24}"/>
                </a:ext>
              </a:extLst>
            </p:cNvPr>
            <p:cNvSpPr txBox="1"/>
            <p:nvPr/>
          </p:nvSpPr>
          <p:spPr>
            <a:xfrm>
              <a:off x="0" y="-38100"/>
              <a:ext cx="2408296" cy="114145"/>
            </a:xfrm>
            <a:prstGeom prst="rect">
              <a:avLst/>
            </a:prstGeom>
            <a:grpFill/>
          </p:spPr>
          <p:txBody>
            <a:bodyPr lIns="50800" tIns="50800" rIns="50800" bIns="50800" rtlCol="0" anchor="ctr"/>
            <a:lstStyle/>
            <a:p>
              <a:pPr algn="ctr">
                <a:lnSpc>
                  <a:spcPts val="2659"/>
                </a:lnSpc>
                <a:spcBef>
                  <a:spcPct val="0"/>
                </a:spcBef>
              </a:pPr>
              <a:endParaRPr/>
            </a:p>
          </p:txBody>
        </p:sp>
      </p:grpSp>
      <p:sp>
        <p:nvSpPr>
          <p:cNvPr id="5" name="TextBox 3">
            <a:extLst>
              <a:ext uri="{FF2B5EF4-FFF2-40B4-BE49-F238E27FC236}">
                <a16:creationId xmlns:a16="http://schemas.microsoft.com/office/drawing/2014/main" id="{6A47A6B3-3576-FE54-031E-792F9FB2E298}"/>
              </a:ext>
            </a:extLst>
          </p:cNvPr>
          <p:cNvSpPr txBox="1"/>
          <p:nvPr/>
        </p:nvSpPr>
        <p:spPr>
          <a:xfrm>
            <a:off x="914398" y="532231"/>
            <a:ext cx="14309559" cy="1231106"/>
          </a:xfrm>
          <a:prstGeom prst="rect">
            <a:avLst/>
          </a:prstGeom>
        </p:spPr>
        <p:txBody>
          <a:bodyPr wrap="square" lIns="0" tIns="0" rIns="0" bIns="0" rtlCol="0" anchor="t">
            <a:spAutoFit/>
          </a:bodyPr>
          <a:lstStyle/>
          <a:p>
            <a:pPr>
              <a:lnSpc>
                <a:spcPts val="9600"/>
              </a:lnSpc>
            </a:pPr>
            <a:r>
              <a:rPr lang="en-US" sz="8000" dirty="0">
                <a:solidFill>
                  <a:srgbClr val="FFFBFB"/>
                </a:solidFill>
                <a:latin typeface="Calibri" panose="020F0502020204030204" pitchFamily="34" charset="0"/>
                <a:cs typeface="Calibri" panose="020F0502020204030204" pitchFamily="34" charset="0"/>
              </a:rPr>
              <a:t>Adam Energy Saver</a:t>
            </a:r>
          </a:p>
        </p:txBody>
      </p:sp>
      <p:pic>
        <p:nvPicPr>
          <p:cNvPr id="6" name="Grafik 5" descr="Ein Bild, das Text, Schrift, Grafiken, Logo enthält.&#10;&#10;Automatisch generierte Beschreibung">
            <a:extLst>
              <a:ext uri="{FF2B5EF4-FFF2-40B4-BE49-F238E27FC236}">
                <a16:creationId xmlns:a16="http://schemas.microsoft.com/office/drawing/2014/main" id="{B04E145C-8B02-1063-6136-A99CAB1B4B6C}"/>
              </a:ext>
            </a:extLst>
          </p:cNvPr>
          <p:cNvPicPr>
            <a:picLocks noChangeAspect="1"/>
          </p:cNvPicPr>
          <p:nvPr/>
        </p:nvPicPr>
        <p:blipFill>
          <a:blip r:embed="rId3" cstate="print">
            <a:extLst>
              <a:ext uri="{28A0092B-C50C-407E-A947-70E740481C1C}">
                <a14:useLocalDpi xmlns:a14="http://schemas.microsoft.com/office/drawing/2010/main" val="0"/>
              </a:ext>
            </a:extLst>
          </a:blip>
          <a:srcRect b="5630"/>
          <a:stretch/>
        </p:blipFill>
        <p:spPr>
          <a:xfrm>
            <a:off x="15005685" y="132414"/>
            <a:ext cx="3041847" cy="889883"/>
          </a:xfrm>
          <a:prstGeom prst="rect">
            <a:avLst/>
          </a:prstGeom>
        </p:spPr>
      </p:pic>
      <p:sp>
        <p:nvSpPr>
          <p:cNvPr id="7" name="TextBox 12">
            <a:extLst>
              <a:ext uri="{FF2B5EF4-FFF2-40B4-BE49-F238E27FC236}">
                <a16:creationId xmlns:a16="http://schemas.microsoft.com/office/drawing/2014/main" id="{6E75EE55-E7A8-AF78-45B5-DDB10CD6DD53}"/>
              </a:ext>
            </a:extLst>
          </p:cNvPr>
          <p:cNvSpPr txBox="1"/>
          <p:nvPr/>
        </p:nvSpPr>
        <p:spPr>
          <a:xfrm>
            <a:off x="16132363" y="1497223"/>
            <a:ext cx="1958207" cy="205954"/>
          </a:xfrm>
          <a:prstGeom prst="rect">
            <a:avLst/>
          </a:prstGeom>
        </p:spPr>
        <p:txBody>
          <a:bodyPr lIns="0" tIns="0" rIns="0" bIns="0" rtlCol="0" anchor="t">
            <a:spAutoFit/>
          </a:bodyPr>
          <a:lstStyle/>
          <a:p>
            <a:pPr algn="ctr" defTabSz="914445">
              <a:lnSpc>
                <a:spcPts val="1679"/>
              </a:lnSpc>
              <a:spcBef>
                <a:spcPct val="0"/>
              </a:spcBef>
              <a:defRPr/>
            </a:pPr>
            <a:r>
              <a:rPr lang="en-US" sz="1200" b="1" spc="-20" dirty="0">
                <a:solidFill>
                  <a:srgbClr val="FFFFFF"/>
                </a:solidFill>
                <a:latin typeface="Helvetica" pitchFamily="2" charset="0"/>
              </a:rPr>
              <a:t>STRICTLY CONFIDENTIAL</a:t>
            </a:r>
          </a:p>
        </p:txBody>
      </p:sp>
      <p:sp>
        <p:nvSpPr>
          <p:cNvPr id="10" name="Textfeld 9">
            <a:extLst>
              <a:ext uri="{FF2B5EF4-FFF2-40B4-BE49-F238E27FC236}">
                <a16:creationId xmlns:a16="http://schemas.microsoft.com/office/drawing/2014/main" id="{98EE9B12-EBA7-A85F-7480-1586E421B69C}"/>
              </a:ext>
            </a:extLst>
          </p:cNvPr>
          <p:cNvSpPr txBox="1"/>
          <p:nvPr/>
        </p:nvSpPr>
        <p:spPr>
          <a:xfrm>
            <a:off x="715618" y="2312925"/>
            <a:ext cx="8647044" cy="2862322"/>
          </a:xfrm>
          <a:prstGeom prst="rect">
            <a:avLst/>
          </a:prstGeom>
          <a:noFill/>
        </p:spPr>
        <p:txBody>
          <a:bodyPr wrap="square" rtlCol="0">
            <a:spAutoFit/>
          </a:bodyPr>
          <a:lstStyle/>
          <a:p>
            <a:pPr marL="342900" indent="-342900">
              <a:buFont typeface="+mj-lt"/>
              <a:buAutoNum type="arabicPeriod"/>
            </a:pPr>
            <a:r>
              <a:rPr lang="de-AT" sz="3600" dirty="0">
                <a:solidFill>
                  <a:schemeClr val="bg1"/>
                </a:solidFill>
              </a:rPr>
              <a:t>Öffnen Sie Ihr Projekt und gehen Sie auf Bereiche</a:t>
            </a:r>
          </a:p>
          <a:p>
            <a:pPr marL="342900" indent="-342900">
              <a:buFont typeface="+mj-lt"/>
              <a:buAutoNum type="arabicPeriod"/>
            </a:pPr>
            <a:r>
              <a:rPr lang="de-AT" sz="3600" dirty="0">
                <a:solidFill>
                  <a:schemeClr val="bg1"/>
                </a:solidFill>
              </a:rPr>
              <a:t>Navigieren Sie zum Adam Energy </a:t>
            </a:r>
            <a:r>
              <a:rPr lang="de-AT" sz="3600" dirty="0" err="1">
                <a:solidFill>
                  <a:schemeClr val="bg1"/>
                </a:solidFill>
              </a:rPr>
              <a:t>Saver</a:t>
            </a:r>
            <a:endParaRPr lang="de-AT" sz="3600" dirty="0">
              <a:solidFill>
                <a:schemeClr val="bg1"/>
              </a:solidFill>
            </a:endParaRPr>
          </a:p>
          <a:p>
            <a:pPr marL="342900" indent="-342900">
              <a:buFont typeface="+mj-lt"/>
              <a:buAutoNum type="arabicPeriod"/>
            </a:pPr>
            <a:r>
              <a:rPr lang="de-AT" sz="3600" dirty="0">
                <a:solidFill>
                  <a:schemeClr val="bg1"/>
                </a:solidFill>
              </a:rPr>
              <a:t>Klicken Sie auf den gewünschten Heizkreis, welchen Sie bearbeiten wollen</a:t>
            </a:r>
            <a:endParaRPr lang="de-AT" sz="1600" dirty="0"/>
          </a:p>
        </p:txBody>
      </p:sp>
      <p:pic>
        <p:nvPicPr>
          <p:cNvPr id="12" name="Grafik 11">
            <a:extLst>
              <a:ext uri="{FF2B5EF4-FFF2-40B4-BE49-F238E27FC236}">
                <a16:creationId xmlns:a16="http://schemas.microsoft.com/office/drawing/2014/main" id="{7A4BAFEB-EC9E-A85E-6B71-3BE0660D17DC}"/>
              </a:ext>
            </a:extLst>
          </p:cNvPr>
          <p:cNvPicPr>
            <a:picLocks noChangeAspect="1"/>
          </p:cNvPicPr>
          <p:nvPr/>
        </p:nvPicPr>
        <p:blipFill>
          <a:blip r:embed="rId4"/>
          <a:stretch>
            <a:fillRect/>
          </a:stretch>
        </p:blipFill>
        <p:spPr>
          <a:xfrm>
            <a:off x="9554784" y="2961861"/>
            <a:ext cx="8535786" cy="6132443"/>
          </a:xfrm>
          <a:prstGeom prst="rect">
            <a:avLst/>
          </a:prstGeom>
        </p:spPr>
      </p:pic>
      <p:cxnSp>
        <p:nvCxnSpPr>
          <p:cNvPr id="14" name="Gerade Verbindung mit Pfeil 13">
            <a:extLst>
              <a:ext uri="{FF2B5EF4-FFF2-40B4-BE49-F238E27FC236}">
                <a16:creationId xmlns:a16="http://schemas.microsoft.com/office/drawing/2014/main" id="{2A9D6B3A-1339-EE7E-808B-B5D1E2C702A9}"/>
              </a:ext>
            </a:extLst>
          </p:cNvPr>
          <p:cNvCxnSpPr/>
          <p:nvPr/>
        </p:nvCxnSpPr>
        <p:spPr>
          <a:xfrm>
            <a:off x="8865704" y="2494722"/>
            <a:ext cx="1401418" cy="1709530"/>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5" name="Gerade Verbindung mit Pfeil 14">
            <a:extLst>
              <a:ext uri="{FF2B5EF4-FFF2-40B4-BE49-F238E27FC236}">
                <a16:creationId xmlns:a16="http://schemas.microsoft.com/office/drawing/2014/main" id="{F877D767-DC86-2F93-F1A5-8E72D419C11E}"/>
              </a:ext>
            </a:extLst>
          </p:cNvPr>
          <p:cNvCxnSpPr>
            <a:cxnSpLocks/>
          </p:cNvCxnSpPr>
          <p:nvPr/>
        </p:nvCxnSpPr>
        <p:spPr>
          <a:xfrm>
            <a:off x="8758014" y="3702901"/>
            <a:ext cx="2085577" cy="1472346"/>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17" name="Gerade Verbindung mit Pfeil 16">
            <a:extLst>
              <a:ext uri="{FF2B5EF4-FFF2-40B4-BE49-F238E27FC236}">
                <a16:creationId xmlns:a16="http://schemas.microsoft.com/office/drawing/2014/main" id="{BCFD28CC-C99A-4E73-F2EC-B02895376123}"/>
              </a:ext>
            </a:extLst>
          </p:cNvPr>
          <p:cNvCxnSpPr>
            <a:cxnSpLocks/>
          </p:cNvCxnSpPr>
          <p:nvPr/>
        </p:nvCxnSpPr>
        <p:spPr>
          <a:xfrm>
            <a:off x="7315200" y="4935637"/>
            <a:ext cx="5893904" cy="1286259"/>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1261329"/>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F4251"/>
        </a:solidFill>
        <a:effectLst/>
      </p:bgPr>
    </p:bg>
    <p:spTree>
      <p:nvGrpSpPr>
        <p:cNvPr id="1" name="">
          <a:extLst>
            <a:ext uri="{FF2B5EF4-FFF2-40B4-BE49-F238E27FC236}">
              <a16:creationId xmlns:a16="http://schemas.microsoft.com/office/drawing/2014/main" id="{4FBBAB28-A65C-E7F3-261C-E329C8B5953D}"/>
            </a:ext>
          </a:extLst>
        </p:cNvPr>
        <p:cNvGrpSpPr/>
        <p:nvPr/>
      </p:nvGrpSpPr>
      <p:grpSpPr>
        <a:xfrm>
          <a:off x="0" y="0"/>
          <a:ext cx="0" cy="0"/>
          <a:chOff x="0" y="0"/>
          <a:chExt cx="0" cy="0"/>
        </a:xfrm>
      </p:grpSpPr>
      <p:sp>
        <p:nvSpPr>
          <p:cNvPr id="118" name="TextBox 6">
            <a:extLst>
              <a:ext uri="{FF2B5EF4-FFF2-40B4-BE49-F238E27FC236}">
                <a16:creationId xmlns:a16="http://schemas.microsoft.com/office/drawing/2014/main" id="{596EC411-8145-3758-DB8E-8C9E40570545}"/>
              </a:ext>
            </a:extLst>
          </p:cNvPr>
          <p:cNvSpPr txBox="1"/>
          <p:nvPr/>
        </p:nvSpPr>
        <p:spPr>
          <a:xfrm>
            <a:off x="914398" y="4954756"/>
            <a:ext cx="13587664" cy="66236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nSpc>
                <a:spcPct val="150000"/>
              </a:lnSpc>
              <a:buSzPct val="100000"/>
              <a:defRPr sz="2400">
                <a:solidFill>
                  <a:srgbClr val="F0F2F6"/>
                </a:solidFill>
                <a:latin typeface="Montserrat Bold"/>
                <a:ea typeface="Montserrat Bold"/>
                <a:cs typeface="Montserrat Bold"/>
                <a:sym typeface="Montserrat Bold"/>
              </a:defRPr>
            </a:pPr>
            <a:endParaRPr lang="de-DE" sz="3200" dirty="0">
              <a:latin typeface="Calibri" panose="020F0502020204030204" pitchFamily="34" charset="0"/>
              <a:cs typeface="Calibri" panose="020F0502020204030204" pitchFamily="34" charset="0"/>
            </a:endParaRPr>
          </a:p>
        </p:txBody>
      </p:sp>
      <p:grpSp>
        <p:nvGrpSpPr>
          <p:cNvPr id="2" name="Group 2">
            <a:extLst>
              <a:ext uri="{FF2B5EF4-FFF2-40B4-BE49-F238E27FC236}">
                <a16:creationId xmlns:a16="http://schemas.microsoft.com/office/drawing/2014/main" id="{C4078837-580C-6F9E-AAEC-4BDA61EABB31}"/>
              </a:ext>
            </a:extLst>
          </p:cNvPr>
          <p:cNvGrpSpPr/>
          <p:nvPr/>
        </p:nvGrpSpPr>
        <p:grpSpPr>
          <a:xfrm>
            <a:off x="0" y="9998267"/>
            <a:ext cx="9144000" cy="288733"/>
            <a:chOff x="0" y="0"/>
            <a:chExt cx="2408296" cy="76045"/>
          </a:xfrm>
          <a:solidFill>
            <a:srgbClr val="71B63B"/>
          </a:solidFill>
        </p:grpSpPr>
        <p:sp>
          <p:nvSpPr>
            <p:cNvPr id="3" name="Freeform 3">
              <a:extLst>
                <a:ext uri="{FF2B5EF4-FFF2-40B4-BE49-F238E27FC236}">
                  <a16:creationId xmlns:a16="http://schemas.microsoft.com/office/drawing/2014/main" id="{914311BE-954E-DFCF-A9AA-C66B3A71629C}"/>
                </a:ext>
              </a:extLst>
            </p:cNvPr>
            <p:cNvSpPr/>
            <p:nvPr/>
          </p:nvSpPr>
          <p:spPr>
            <a:xfrm>
              <a:off x="0" y="0"/>
              <a:ext cx="2408296" cy="76045"/>
            </a:xfrm>
            <a:custGeom>
              <a:avLst/>
              <a:gdLst/>
              <a:ahLst/>
              <a:cxnLst/>
              <a:rect l="l" t="t" r="r" b="b"/>
              <a:pathLst>
                <a:path w="2408296" h="76045">
                  <a:moveTo>
                    <a:pt x="0" y="0"/>
                  </a:moveTo>
                  <a:lnTo>
                    <a:pt x="2408296" y="0"/>
                  </a:lnTo>
                  <a:lnTo>
                    <a:pt x="2408296" y="76045"/>
                  </a:lnTo>
                  <a:lnTo>
                    <a:pt x="0" y="76045"/>
                  </a:lnTo>
                  <a:close/>
                </a:path>
              </a:pathLst>
            </a:custGeom>
            <a:grpFill/>
          </p:spPr>
          <p:txBody>
            <a:bodyPr/>
            <a:lstStyle/>
            <a:p>
              <a:endParaRPr lang="de-AT"/>
            </a:p>
          </p:txBody>
        </p:sp>
        <p:sp>
          <p:nvSpPr>
            <p:cNvPr id="4" name="TextBox 4">
              <a:extLst>
                <a:ext uri="{FF2B5EF4-FFF2-40B4-BE49-F238E27FC236}">
                  <a16:creationId xmlns:a16="http://schemas.microsoft.com/office/drawing/2014/main" id="{833B44F5-3E25-E9FA-1A0B-AAA6908C36C0}"/>
                </a:ext>
              </a:extLst>
            </p:cNvPr>
            <p:cNvSpPr txBox="1"/>
            <p:nvPr/>
          </p:nvSpPr>
          <p:spPr>
            <a:xfrm>
              <a:off x="0" y="-38100"/>
              <a:ext cx="2408296" cy="114145"/>
            </a:xfrm>
            <a:prstGeom prst="rect">
              <a:avLst/>
            </a:prstGeom>
            <a:grpFill/>
          </p:spPr>
          <p:txBody>
            <a:bodyPr lIns="50800" tIns="50800" rIns="50800" bIns="50800" rtlCol="0" anchor="ctr"/>
            <a:lstStyle/>
            <a:p>
              <a:pPr algn="ctr">
                <a:lnSpc>
                  <a:spcPts val="2659"/>
                </a:lnSpc>
                <a:spcBef>
                  <a:spcPct val="0"/>
                </a:spcBef>
              </a:pPr>
              <a:endParaRPr/>
            </a:p>
          </p:txBody>
        </p:sp>
      </p:grpSp>
      <p:sp>
        <p:nvSpPr>
          <p:cNvPr id="5" name="TextBox 3">
            <a:extLst>
              <a:ext uri="{FF2B5EF4-FFF2-40B4-BE49-F238E27FC236}">
                <a16:creationId xmlns:a16="http://schemas.microsoft.com/office/drawing/2014/main" id="{ABF27486-C972-17F5-27F7-F6B1E9D561E4}"/>
              </a:ext>
            </a:extLst>
          </p:cNvPr>
          <p:cNvSpPr txBox="1"/>
          <p:nvPr/>
        </p:nvSpPr>
        <p:spPr>
          <a:xfrm>
            <a:off x="914398" y="532231"/>
            <a:ext cx="14309559" cy="1231106"/>
          </a:xfrm>
          <a:prstGeom prst="rect">
            <a:avLst/>
          </a:prstGeom>
        </p:spPr>
        <p:txBody>
          <a:bodyPr wrap="square" lIns="0" tIns="0" rIns="0" bIns="0" rtlCol="0" anchor="t">
            <a:spAutoFit/>
          </a:bodyPr>
          <a:lstStyle/>
          <a:p>
            <a:pPr>
              <a:lnSpc>
                <a:spcPts val="9600"/>
              </a:lnSpc>
            </a:pPr>
            <a:r>
              <a:rPr lang="en-US" sz="8000" dirty="0">
                <a:solidFill>
                  <a:srgbClr val="FFFBFB"/>
                </a:solidFill>
                <a:latin typeface="Calibri" panose="020F0502020204030204" pitchFamily="34" charset="0"/>
                <a:cs typeface="Calibri" panose="020F0502020204030204" pitchFamily="34" charset="0"/>
              </a:rPr>
              <a:t>Adam Energy Saver</a:t>
            </a:r>
          </a:p>
        </p:txBody>
      </p:sp>
      <p:pic>
        <p:nvPicPr>
          <p:cNvPr id="6" name="Grafik 5" descr="Ein Bild, das Text, Schrift, Grafiken, Logo enthält.&#10;&#10;Automatisch generierte Beschreibung">
            <a:extLst>
              <a:ext uri="{FF2B5EF4-FFF2-40B4-BE49-F238E27FC236}">
                <a16:creationId xmlns:a16="http://schemas.microsoft.com/office/drawing/2014/main" id="{89653741-9939-190E-198B-43235D90F4EF}"/>
              </a:ext>
            </a:extLst>
          </p:cNvPr>
          <p:cNvPicPr>
            <a:picLocks noChangeAspect="1"/>
          </p:cNvPicPr>
          <p:nvPr/>
        </p:nvPicPr>
        <p:blipFill>
          <a:blip r:embed="rId3" cstate="print">
            <a:extLst>
              <a:ext uri="{28A0092B-C50C-407E-A947-70E740481C1C}">
                <a14:useLocalDpi xmlns:a14="http://schemas.microsoft.com/office/drawing/2010/main" val="0"/>
              </a:ext>
            </a:extLst>
          </a:blip>
          <a:srcRect b="5630"/>
          <a:stretch/>
        </p:blipFill>
        <p:spPr>
          <a:xfrm>
            <a:off x="15005685" y="132414"/>
            <a:ext cx="3041847" cy="889883"/>
          </a:xfrm>
          <a:prstGeom prst="rect">
            <a:avLst/>
          </a:prstGeom>
        </p:spPr>
      </p:pic>
      <p:sp>
        <p:nvSpPr>
          <p:cNvPr id="7" name="TextBox 12">
            <a:extLst>
              <a:ext uri="{FF2B5EF4-FFF2-40B4-BE49-F238E27FC236}">
                <a16:creationId xmlns:a16="http://schemas.microsoft.com/office/drawing/2014/main" id="{1ADC8E94-3262-4014-21E6-E3686566B760}"/>
              </a:ext>
            </a:extLst>
          </p:cNvPr>
          <p:cNvSpPr txBox="1"/>
          <p:nvPr/>
        </p:nvSpPr>
        <p:spPr>
          <a:xfrm>
            <a:off x="16132363" y="1497223"/>
            <a:ext cx="1958207" cy="205954"/>
          </a:xfrm>
          <a:prstGeom prst="rect">
            <a:avLst/>
          </a:prstGeom>
        </p:spPr>
        <p:txBody>
          <a:bodyPr lIns="0" tIns="0" rIns="0" bIns="0" rtlCol="0" anchor="t">
            <a:spAutoFit/>
          </a:bodyPr>
          <a:lstStyle/>
          <a:p>
            <a:pPr algn="ctr" defTabSz="914445">
              <a:lnSpc>
                <a:spcPts val="1679"/>
              </a:lnSpc>
              <a:spcBef>
                <a:spcPct val="0"/>
              </a:spcBef>
              <a:defRPr/>
            </a:pPr>
            <a:r>
              <a:rPr lang="en-US" sz="1200" b="1" spc="-20" dirty="0">
                <a:solidFill>
                  <a:srgbClr val="FFFFFF"/>
                </a:solidFill>
                <a:latin typeface="Helvetica" pitchFamily="2" charset="0"/>
              </a:rPr>
              <a:t>STRICTLY CONFIDENTIAL</a:t>
            </a:r>
          </a:p>
        </p:txBody>
      </p:sp>
      <p:sp>
        <p:nvSpPr>
          <p:cNvPr id="10" name="Textfeld 9">
            <a:extLst>
              <a:ext uri="{FF2B5EF4-FFF2-40B4-BE49-F238E27FC236}">
                <a16:creationId xmlns:a16="http://schemas.microsoft.com/office/drawing/2014/main" id="{03D3B248-B7D4-0361-4B8E-F1DDB9AA516E}"/>
              </a:ext>
            </a:extLst>
          </p:cNvPr>
          <p:cNvSpPr txBox="1"/>
          <p:nvPr/>
        </p:nvSpPr>
        <p:spPr>
          <a:xfrm>
            <a:off x="715618" y="2312925"/>
            <a:ext cx="8647044" cy="2862322"/>
          </a:xfrm>
          <a:prstGeom prst="rect">
            <a:avLst/>
          </a:prstGeom>
          <a:noFill/>
        </p:spPr>
        <p:txBody>
          <a:bodyPr wrap="square" rtlCol="0">
            <a:spAutoFit/>
          </a:bodyPr>
          <a:lstStyle/>
          <a:p>
            <a:pPr marL="342900" indent="-342900">
              <a:buFont typeface="+mj-lt"/>
              <a:buAutoNum type="arabicPeriod"/>
            </a:pPr>
            <a:r>
              <a:rPr lang="de-AT" sz="3600" dirty="0">
                <a:solidFill>
                  <a:schemeClr val="bg1"/>
                </a:solidFill>
              </a:rPr>
              <a:t>Wählen Sie nun den Heizkreis aus, welchen Sie anpassen wollen</a:t>
            </a:r>
          </a:p>
          <a:p>
            <a:pPr marL="342900" indent="-342900">
              <a:buFont typeface="+mj-lt"/>
              <a:buAutoNum type="arabicPeriod"/>
            </a:pPr>
            <a:r>
              <a:rPr lang="de-AT" sz="3600" dirty="0">
                <a:solidFill>
                  <a:schemeClr val="bg1"/>
                </a:solidFill>
              </a:rPr>
              <a:t>Passen Sie nun den Sollwert der Raumtemperatur auf die gewünschte Temperatur an</a:t>
            </a:r>
            <a:endParaRPr lang="de-AT" sz="1600" dirty="0"/>
          </a:p>
        </p:txBody>
      </p:sp>
      <p:pic>
        <p:nvPicPr>
          <p:cNvPr id="9" name="Grafik 8">
            <a:extLst>
              <a:ext uri="{FF2B5EF4-FFF2-40B4-BE49-F238E27FC236}">
                <a16:creationId xmlns:a16="http://schemas.microsoft.com/office/drawing/2014/main" id="{2B32FD22-62B2-864C-8028-13F94CE75279}"/>
              </a:ext>
            </a:extLst>
          </p:cNvPr>
          <p:cNvPicPr>
            <a:picLocks noChangeAspect="1"/>
          </p:cNvPicPr>
          <p:nvPr/>
        </p:nvPicPr>
        <p:blipFill>
          <a:blip r:embed="rId4"/>
          <a:stretch>
            <a:fillRect/>
          </a:stretch>
        </p:blipFill>
        <p:spPr>
          <a:xfrm>
            <a:off x="9846403" y="2252467"/>
            <a:ext cx="7944641" cy="3482286"/>
          </a:xfrm>
          <a:prstGeom prst="rect">
            <a:avLst/>
          </a:prstGeom>
        </p:spPr>
      </p:pic>
      <p:cxnSp>
        <p:nvCxnSpPr>
          <p:cNvPr id="16" name="Gerade Verbindung mit Pfeil 15">
            <a:extLst>
              <a:ext uri="{FF2B5EF4-FFF2-40B4-BE49-F238E27FC236}">
                <a16:creationId xmlns:a16="http://schemas.microsoft.com/office/drawing/2014/main" id="{8798AE2B-D384-5865-4AFB-24FF32F12257}"/>
              </a:ext>
            </a:extLst>
          </p:cNvPr>
          <p:cNvCxnSpPr>
            <a:cxnSpLocks/>
          </p:cNvCxnSpPr>
          <p:nvPr/>
        </p:nvCxnSpPr>
        <p:spPr>
          <a:xfrm>
            <a:off x="9144000" y="2992894"/>
            <a:ext cx="2365513" cy="1961862"/>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27" name="Grafik 26">
            <a:extLst>
              <a:ext uri="{FF2B5EF4-FFF2-40B4-BE49-F238E27FC236}">
                <a16:creationId xmlns:a16="http://schemas.microsoft.com/office/drawing/2014/main" id="{CDC61CD9-2EFD-6B22-0E00-FEA7EEBDD154}"/>
              </a:ext>
            </a:extLst>
          </p:cNvPr>
          <p:cNvPicPr>
            <a:picLocks noChangeAspect="1"/>
          </p:cNvPicPr>
          <p:nvPr/>
        </p:nvPicPr>
        <p:blipFill>
          <a:blip r:embed="rId5"/>
          <a:stretch>
            <a:fillRect/>
          </a:stretch>
        </p:blipFill>
        <p:spPr>
          <a:xfrm>
            <a:off x="139303" y="5332245"/>
            <a:ext cx="9607710" cy="4055314"/>
          </a:xfrm>
          <a:prstGeom prst="rect">
            <a:avLst/>
          </a:prstGeom>
        </p:spPr>
      </p:pic>
      <p:cxnSp>
        <p:nvCxnSpPr>
          <p:cNvPr id="22" name="Gerade Verbindung mit Pfeil 21">
            <a:extLst>
              <a:ext uri="{FF2B5EF4-FFF2-40B4-BE49-F238E27FC236}">
                <a16:creationId xmlns:a16="http://schemas.microsoft.com/office/drawing/2014/main" id="{948BBD4F-1247-866B-979F-1DAD5C761C25}"/>
              </a:ext>
            </a:extLst>
          </p:cNvPr>
          <p:cNvCxnSpPr>
            <a:cxnSpLocks/>
          </p:cNvCxnSpPr>
          <p:nvPr/>
        </p:nvCxnSpPr>
        <p:spPr>
          <a:xfrm>
            <a:off x="4188472" y="4863158"/>
            <a:ext cx="1666546" cy="207435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29" name="Textfeld 28">
            <a:extLst>
              <a:ext uri="{FF2B5EF4-FFF2-40B4-BE49-F238E27FC236}">
                <a16:creationId xmlns:a16="http://schemas.microsoft.com/office/drawing/2014/main" id="{A4462C24-7212-7141-D375-0D0A2AB87BAC}"/>
              </a:ext>
            </a:extLst>
          </p:cNvPr>
          <p:cNvSpPr txBox="1"/>
          <p:nvPr/>
        </p:nvSpPr>
        <p:spPr>
          <a:xfrm>
            <a:off x="9904187" y="6147818"/>
            <a:ext cx="8143345" cy="1754326"/>
          </a:xfrm>
          <a:prstGeom prst="rect">
            <a:avLst/>
          </a:prstGeom>
          <a:noFill/>
        </p:spPr>
        <p:txBody>
          <a:bodyPr wrap="square" rtlCol="0">
            <a:spAutoFit/>
          </a:bodyPr>
          <a:lstStyle/>
          <a:p>
            <a:pPr marL="742950" indent="-742950">
              <a:buFont typeface="+mj-lt"/>
              <a:buAutoNum type="arabicPeriod" startAt="3"/>
            </a:pPr>
            <a:r>
              <a:rPr lang="de-AT" sz="3600" dirty="0">
                <a:solidFill>
                  <a:schemeClr val="bg1"/>
                </a:solidFill>
              </a:rPr>
              <a:t>Klicken Sie nun zum Schluss auf Senden,    um Ihre Änderungen zu speichern</a:t>
            </a:r>
            <a:endParaRPr lang="de-AT" sz="1600" dirty="0"/>
          </a:p>
        </p:txBody>
      </p:sp>
      <p:pic>
        <p:nvPicPr>
          <p:cNvPr id="31" name="Grafik 30">
            <a:extLst>
              <a:ext uri="{FF2B5EF4-FFF2-40B4-BE49-F238E27FC236}">
                <a16:creationId xmlns:a16="http://schemas.microsoft.com/office/drawing/2014/main" id="{F83FE921-01C3-832D-B622-C4F6A9D70435}"/>
              </a:ext>
            </a:extLst>
          </p:cNvPr>
          <p:cNvPicPr>
            <a:picLocks noChangeAspect="1"/>
          </p:cNvPicPr>
          <p:nvPr/>
        </p:nvPicPr>
        <p:blipFill>
          <a:blip r:embed="rId6"/>
          <a:stretch>
            <a:fillRect/>
          </a:stretch>
        </p:blipFill>
        <p:spPr>
          <a:xfrm>
            <a:off x="12365081" y="8376584"/>
            <a:ext cx="3088422" cy="1317727"/>
          </a:xfrm>
          <a:prstGeom prst="rect">
            <a:avLst/>
          </a:prstGeom>
        </p:spPr>
      </p:pic>
      <p:cxnSp>
        <p:nvCxnSpPr>
          <p:cNvPr id="32" name="Gerade Verbindung mit Pfeil 31">
            <a:extLst>
              <a:ext uri="{FF2B5EF4-FFF2-40B4-BE49-F238E27FC236}">
                <a16:creationId xmlns:a16="http://schemas.microsoft.com/office/drawing/2014/main" id="{0944FAD9-DCF4-3A80-8DF7-01532AD8E185}"/>
              </a:ext>
            </a:extLst>
          </p:cNvPr>
          <p:cNvCxnSpPr>
            <a:cxnSpLocks/>
          </p:cNvCxnSpPr>
          <p:nvPr/>
        </p:nvCxnSpPr>
        <p:spPr>
          <a:xfrm>
            <a:off x="13818723" y="7595259"/>
            <a:ext cx="0" cy="980931"/>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695806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F4251"/>
        </a:solidFill>
        <a:effectLst/>
      </p:bgPr>
    </p:bg>
    <p:spTree>
      <p:nvGrpSpPr>
        <p:cNvPr id="1" name="">
          <a:extLst>
            <a:ext uri="{FF2B5EF4-FFF2-40B4-BE49-F238E27FC236}">
              <a16:creationId xmlns:a16="http://schemas.microsoft.com/office/drawing/2014/main" id="{F8186097-A310-44C7-52C1-A21B97C2FDF5}"/>
            </a:ext>
          </a:extLst>
        </p:cNvPr>
        <p:cNvGrpSpPr/>
        <p:nvPr/>
      </p:nvGrpSpPr>
      <p:grpSpPr>
        <a:xfrm>
          <a:off x="0" y="0"/>
          <a:ext cx="0" cy="0"/>
          <a:chOff x="0" y="0"/>
          <a:chExt cx="0" cy="0"/>
        </a:xfrm>
      </p:grpSpPr>
      <p:sp>
        <p:nvSpPr>
          <p:cNvPr id="31" name="TextBox 12">
            <a:extLst>
              <a:ext uri="{FF2B5EF4-FFF2-40B4-BE49-F238E27FC236}">
                <a16:creationId xmlns:a16="http://schemas.microsoft.com/office/drawing/2014/main" id="{E2532B71-4491-E974-0560-97CA50C2C479}"/>
              </a:ext>
            </a:extLst>
          </p:cNvPr>
          <p:cNvSpPr txBox="1"/>
          <p:nvPr/>
        </p:nvSpPr>
        <p:spPr>
          <a:xfrm>
            <a:off x="15859408" y="595622"/>
            <a:ext cx="1958207" cy="205954"/>
          </a:xfrm>
          <a:prstGeom prst="rect">
            <a:avLst/>
          </a:prstGeom>
        </p:spPr>
        <p:txBody>
          <a:bodyPr lIns="0" tIns="0" rIns="0" bIns="0" rtlCol="0" anchor="t">
            <a:spAutoFit/>
          </a:bodyPr>
          <a:lstStyle/>
          <a:p>
            <a:pPr algn="ctr" defTabSz="914445">
              <a:lnSpc>
                <a:spcPts val="1679"/>
              </a:lnSpc>
              <a:spcBef>
                <a:spcPct val="0"/>
              </a:spcBef>
              <a:defRPr/>
            </a:pPr>
            <a:r>
              <a:rPr lang="en-US" sz="1200" b="1" spc="-20" dirty="0">
                <a:solidFill>
                  <a:srgbClr val="FFFFFF"/>
                </a:solidFill>
                <a:latin typeface="Helvetica" pitchFamily="2" charset="0"/>
              </a:rPr>
              <a:t>STRICTLY CONFIDENTIAL</a:t>
            </a:r>
          </a:p>
        </p:txBody>
      </p:sp>
      <p:sp>
        <p:nvSpPr>
          <p:cNvPr id="37" name="Rounded Rectangle 36">
            <a:extLst>
              <a:ext uri="{FF2B5EF4-FFF2-40B4-BE49-F238E27FC236}">
                <a16:creationId xmlns:a16="http://schemas.microsoft.com/office/drawing/2014/main" id="{E087383A-970A-CA5C-961E-4A03DEDCB6A1}"/>
              </a:ext>
            </a:extLst>
          </p:cNvPr>
          <p:cNvSpPr/>
          <p:nvPr/>
        </p:nvSpPr>
        <p:spPr>
          <a:xfrm>
            <a:off x="4062263" y="6731268"/>
            <a:ext cx="4863371" cy="2337591"/>
          </a:xfrm>
          <a:prstGeom prst="roundRect">
            <a:avLst>
              <a:gd name="adj" fmla="val 6888"/>
            </a:avLst>
          </a:prstGeom>
          <a:solidFill>
            <a:schemeClr val="bg1">
              <a:alpha val="1675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700"/>
          </a:p>
        </p:txBody>
      </p:sp>
      <p:sp>
        <p:nvSpPr>
          <p:cNvPr id="38" name="TextBox 5">
            <a:extLst>
              <a:ext uri="{FF2B5EF4-FFF2-40B4-BE49-F238E27FC236}">
                <a16:creationId xmlns:a16="http://schemas.microsoft.com/office/drawing/2014/main" id="{D6D181C4-3435-C550-84E1-B93F887D3C25}"/>
              </a:ext>
            </a:extLst>
          </p:cNvPr>
          <p:cNvSpPr txBox="1"/>
          <p:nvPr/>
        </p:nvSpPr>
        <p:spPr>
          <a:xfrm>
            <a:off x="4400521" y="7913904"/>
            <a:ext cx="5341106" cy="390748"/>
          </a:xfrm>
          <a:prstGeom prst="rect">
            <a:avLst/>
          </a:prstGeom>
        </p:spPr>
        <p:txBody>
          <a:bodyPr lIns="0" tIns="0" rIns="0" bIns="0" rtlCol="0" anchor="t">
            <a:spAutoFit/>
          </a:bodyPr>
          <a:lstStyle/>
          <a:p>
            <a:pPr defTabSz="914445">
              <a:lnSpc>
                <a:spcPts val="3359"/>
              </a:lnSpc>
              <a:defRPr/>
            </a:pPr>
            <a:r>
              <a:rPr lang="en-US" b="1" dirty="0">
                <a:solidFill>
                  <a:srgbClr val="FFFFFF"/>
                </a:solidFill>
                <a:latin typeface="Calibri" panose="020F0502020204030204" pitchFamily="34" charset="0"/>
                <a:ea typeface="Inter Italic" panose="02000503000000020004" pitchFamily="2" charset="0"/>
                <a:cs typeface="Calibri" panose="020F0502020204030204" pitchFamily="34" charset="0"/>
              </a:rPr>
              <a:t>+43 650 9937533</a:t>
            </a:r>
            <a:endParaRPr lang="en-US" b="1" dirty="0">
              <a:solidFill>
                <a:srgbClr val="FFFFFF"/>
              </a:solidFill>
              <a:latin typeface="Calibri" panose="020F0502020204030204" pitchFamily="34" charset="0"/>
              <a:ea typeface="Inter Italic" panose="02000503000000020004" pitchFamily="2" charset="0"/>
              <a:cs typeface="Calibri" panose="020F0502020204030204" pitchFamily="34" charset="0"/>
              <a:hlinkClick r:id="rId3" tooltip="https://www.google.com/search?q=efficientio&amp;rlz=1C5CHFA_enAT1046AT1046&amp;oq=efficientio+&amp;gs_lcrp=EgZjaHJvbWUqBggAEEUYOzIGCAAQRRg7Mg0IARAuGK8BGMcBGIAEMgYIAhAjGCcyBggDEEUYPDIGCAQQRRg8MgYIBRBFGDwyBggGEEUYPDIGCAcQRRg80gEIMTY3MmowajeoAgCwAgA&amp;sourceid=chrome&amp;ie=UTF-8#"/>
            </a:endParaRPr>
          </a:p>
        </p:txBody>
      </p:sp>
      <p:sp>
        <p:nvSpPr>
          <p:cNvPr id="39" name="TextBox 7">
            <a:extLst>
              <a:ext uri="{FF2B5EF4-FFF2-40B4-BE49-F238E27FC236}">
                <a16:creationId xmlns:a16="http://schemas.microsoft.com/office/drawing/2014/main" id="{EB012F1A-0F36-7BD8-A572-166C37A9E374}"/>
              </a:ext>
            </a:extLst>
          </p:cNvPr>
          <p:cNvSpPr txBox="1"/>
          <p:nvPr/>
        </p:nvSpPr>
        <p:spPr>
          <a:xfrm>
            <a:off x="4400521" y="8184660"/>
            <a:ext cx="5341106" cy="390748"/>
          </a:xfrm>
          <a:prstGeom prst="rect">
            <a:avLst/>
          </a:prstGeom>
        </p:spPr>
        <p:txBody>
          <a:bodyPr lIns="0" tIns="0" rIns="0" bIns="0" rtlCol="0" anchor="t">
            <a:spAutoFit/>
          </a:bodyPr>
          <a:lstStyle/>
          <a:p>
            <a:pPr defTabSz="914445">
              <a:lnSpc>
                <a:spcPts val="3359"/>
              </a:lnSpc>
              <a:defRPr/>
            </a:pPr>
            <a:r>
              <a:rPr lang="en-GB" b="1" dirty="0">
                <a:solidFill>
                  <a:srgbClr val="FFFFFF"/>
                </a:solidFill>
                <a:latin typeface="Calibri" panose="020F0502020204030204" pitchFamily="34" charset="0"/>
                <a:ea typeface="Inter Italic" panose="02000503000000020004" pitchFamily="2" charset="0"/>
                <a:cs typeface="Calibri" panose="020F0502020204030204" pitchFamily="34" charset="0"/>
              </a:rPr>
              <a:t>Patrick.kolb@eneries.com</a:t>
            </a:r>
          </a:p>
        </p:txBody>
      </p:sp>
      <p:sp>
        <p:nvSpPr>
          <p:cNvPr id="40" name="TextBox 3">
            <a:extLst>
              <a:ext uri="{FF2B5EF4-FFF2-40B4-BE49-F238E27FC236}">
                <a16:creationId xmlns:a16="http://schemas.microsoft.com/office/drawing/2014/main" id="{2B24A0A9-E180-9392-F3C6-C44F32F262DE}"/>
              </a:ext>
            </a:extLst>
          </p:cNvPr>
          <p:cNvSpPr txBox="1"/>
          <p:nvPr/>
        </p:nvSpPr>
        <p:spPr>
          <a:xfrm>
            <a:off x="4400520" y="7088637"/>
            <a:ext cx="3705222" cy="436017"/>
          </a:xfrm>
          <a:prstGeom prst="rect">
            <a:avLst/>
          </a:prstGeom>
        </p:spPr>
        <p:txBody>
          <a:bodyPr wrap="square" lIns="0" tIns="0" rIns="0" bIns="0" rtlCol="0" anchor="t">
            <a:spAutoFit/>
          </a:bodyPr>
          <a:lstStyle/>
          <a:p>
            <a:pPr defTabSz="914445">
              <a:lnSpc>
                <a:spcPts val="3359"/>
              </a:lnSpc>
              <a:defRPr/>
            </a:pPr>
            <a:r>
              <a:rPr lang="en-US" sz="3000" b="1" dirty="0">
                <a:solidFill>
                  <a:srgbClr val="FFFFFF"/>
                </a:solidFill>
                <a:latin typeface="Calibri" panose="020F0502020204030204" pitchFamily="34" charset="0"/>
                <a:ea typeface="Inter Italic" panose="02000503000000020004" pitchFamily="2" charset="0"/>
                <a:cs typeface="Calibri" panose="020F0502020204030204" pitchFamily="34" charset="0"/>
              </a:rPr>
              <a:t>Patrick Kolb</a:t>
            </a:r>
          </a:p>
        </p:txBody>
      </p:sp>
      <p:sp>
        <p:nvSpPr>
          <p:cNvPr id="41" name="TextBox 40">
            <a:extLst>
              <a:ext uri="{FF2B5EF4-FFF2-40B4-BE49-F238E27FC236}">
                <a16:creationId xmlns:a16="http://schemas.microsoft.com/office/drawing/2014/main" id="{5515F36A-3CB1-944F-CE21-4F3A18CE726C}"/>
              </a:ext>
            </a:extLst>
          </p:cNvPr>
          <p:cNvSpPr txBox="1"/>
          <p:nvPr/>
        </p:nvSpPr>
        <p:spPr>
          <a:xfrm>
            <a:off x="4297208" y="7456983"/>
            <a:ext cx="15475224" cy="369332"/>
          </a:xfrm>
          <a:prstGeom prst="rect">
            <a:avLst/>
          </a:prstGeom>
          <a:noFill/>
        </p:spPr>
        <p:txBody>
          <a:bodyPr wrap="square">
            <a:spAutoFit/>
          </a:bodyPr>
          <a:lstStyle/>
          <a:p>
            <a:r>
              <a:rPr lang="en-US" dirty="0">
                <a:solidFill>
                  <a:srgbClr val="FFFFFF"/>
                </a:solidFill>
                <a:latin typeface="Calibri" panose="020F0502020204030204" pitchFamily="34" charset="0"/>
                <a:cs typeface="Calibri" panose="020F0502020204030204" pitchFamily="34" charset="0"/>
              </a:rPr>
              <a:t>CTO </a:t>
            </a:r>
            <a:r>
              <a:rPr lang="en-US" dirty="0" err="1">
                <a:solidFill>
                  <a:srgbClr val="FFFFFF"/>
                </a:solidFill>
                <a:latin typeface="Calibri" panose="020F0502020204030204" pitchFamily="34" charset="0"/>
                <a:cs typeface="Calibri" panose="020F0502020204030204" pitchFamily="34" charset="0"/>
              </a:rPr>
              <a:t>EneRies</a:t>
            </a:r>
            <a:r>
              <a:rPr lang="en-US" dirty="0">
                <a:solidFill>
                  <a:srgbClr val="FFFFFF"/>
                </a:solidFill>
                <a:latin typeface="Calibri" panose="020F0502020204030204" pitchFamily="34" charset="0"/>
                <a:cs typeface="Calibri" panose="020F0502020204030204" pitchFamily="34" charset="0"/>
              </a:rPr>
              <a:t> GmbH</a:t>
            </a:r>
            <a:endParaRPr lang="en-US" dirty="0">
              <a:latin typeface="Calibri" panose="020F0502020204030204" pitchFamily="34" charset="0"/>
              <a:cs typeface="Calibri" panose="020F0502020204030204" pitchFamily="34" charset="0"/>
            </a:endParaRPr>
          </a:p>
        </p:txBody>
      </p:sp>
      <p:pic>
        <p:nvPicPr>
          <p:cNvPr id="4" name="Grafik 3" descr="Ein Bild, das Text, Schrift, Grafiken, Logo enthält.&#10;&#10;Automatisch generierte Beschreibung">
            <a:extLst>
              <a:ext uri="{FF2B5EF4-FFF2-40B4-BE49-F238E27FC236}">
                <a16:creationId xmlns:a16="http://schemas.microsoft.com/office/drawing/2014/main" id="{403A16FE-9DB1-05D1-ECBC-5D1A1C8CC574}"/>
              </a:ext>
            </a:extLst>
          </p:cNvPr>
          <p:cNvPicPr>
            <a:picLocks noChangeAspect="1"/>
          </p:cNvPicPr>
          <p:nvPr/>
        </p:nvPicPr>
        <p:blipFill>
          <a:blip r:embed="rId4" cstate="print">
            <a:extLst>
              <a:ext uri="{28A0092B-C50C-407E-A947-70E740481C1C}">
                <a14:useLocalDpi xmlns:a14="http://schemas.microsoft.com/office/drawing/2010/main" val="0"/>
              </a:ext>
            </a:extLst>
          </a:blip>
          <a:srcRect b="5630"/>
          <a:stretch/>
        </p:blipFill>
        <p:spPr>
          <a:xfrm>
            <a:off x="5118721" y="743406"/>
            <a:ext cx="6641294" cy="1942890"/>
          </a:xfrm>
          <a:prstGeom prst="rect">
            <a:avLst/>
          </a:prstGeom>
        </p:spPr>
      </p:pic>
      <p:pic>
        <p:nvPicPr>
          <p:cNvPr id="6" name="Grafik 5">
            <a:extLst>
              <a:ext uri="{FF2B5EF4-FFF2-40B4-BE49-F238E27FC236}">
                <a16:creationId xmlns:a16="http://schemas.microsoft.com/office/drawing/2014/main" id="{83775ADC-F01D-C78B-142B-DA2A1061C1FC}"/>
              </a:ext>
            </a:extLst>
          </p:cNvPr>
          <p:cNvPicPr>
            <a:picLocks noChangeAspect="1"/>
          </p:cNvPicPr>
          <p:nvPr/>
        </p:nvPicPr>
        <p:blipFill>
          <a:blip r:embed="rId5"/>
          <a:srcRect l="1825" t="1415" r="5349" b="4698"/>
          <a:stretch/>
        </p:blipFill>
        <p:spPr>
          <a:xfrm>
            <a:off x="1033669" y="6531326"/>
            <a:ext cx="2747211" cy="2682483"/>
          </a:xfrm>
          <a:prstGeom prst="flowChartConnector">
            <a:avLst/>
          </a:prstGeom>
        </p:spPr>
      </p:pic>
    </p:spTree>
    <p:extLst>
      <p:ext uri="{BB962C8B-B14F-4D97-AF65-F5344CB8AC3E}">
        <p14:creationId xmlns:p14="http://schemas.microsoft.com/office/powerpoint/2010/main" val="21778791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kument" ma:contentTypeID="0x01010018CBC992F7415A49885A13C11EBC987E" ma:contentTypeVersion="15" ma:contentTypeDescription="Ein neues Dokument erstellen." ma:contentTypeScope="" ma:versionID="ea94135859ec272adb9fbff1d58e3ccb">
  <xsd:schema xmlns:xsd="http://www.w3.org/2001/XMLSchema" xmlns:xs="http://www.w3.org/2001/XMLSchema" xmlns:p="http://schemas.microsoft.com/office/2006/metadata/properties" xmlns:ns2="bf2c2348-ef53-4bbd-ae74-5509a85a446f" xmlns:ns3="67406af3-daa6-4de2-8cd4-4603eb8c1642" targetNamespace="http://schemas.microsoft.com/office/2006/metadata/properties" ma:root="true" ma:fieldsID="411019af712ea34145ece7f3c766fed2" ns2:_="" ns3:_="">
    <xsd:import namespace="bf2c2348-ef53-4bbd-ae74-5509a85a446f"/>
    <xsd:import namespace="67406af3-daa6-4de2-8cd4-4603eb8c164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2c2348-ef53-4bbd-ae74-5509a85a44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Bildmarkierungen" ma:readOnly="false" ma:fieldId="{5cf76f15-5ced-4ddc-b409-7134ff3c332f}" ma:taxonomyMulti="true" ma:sspId="dad80ed9-d23c-4cf9-b10a-506a029f0477"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Location" ma:index="20" nillable="true" ma:displayName="Location" ma:indexed="true" ma:internalName="MediaServiceLocation" ma:readOnly="true">
      <xsd:simpleType>
        <xsd:restriction base="dms:Text"/>
      </xsd:simpleType>
    </xsd:element>
    <xsd:element name="MediaServiceObjectDetectorVersions" ma:index="21" nillable="true" ma:displayName="MediaServiceObjectDetectorVersions" ma:hidden="true" ma:indexed="true" ma:internalName="MediaServiceObjectDetectorVersions"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7406af3-daa6-4de2-8cd4-4603eb8c1642" elementFormDefault="qualified">
    <xsd:import namespace="http://schemas.microsoft.com/office/2006/documentManagement/types"/>
    <xsd:import namespace="http://schemas.microsoft.com/office/infopath/2007/PartnerControls"/>
    <xsd:element name="SharedWithUsers" ma:index="10"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Freigegeben für - Details" ma:internalName="SharedWithDetails" ma:readOnly="true">
      <xsd:simpleType>
        <xsd:restriction base="dms:Note">
          <xsd:maxLength value="255"/>
        </xsd:restriction>
      </xsd:simpleType>
    </xsd:element>
    <xsd:element name="TaxCatchAll" ma:index="14" nillable="true" ma:displayName="Taxonomy Catch All Column" ma:hidden="true" ma:list="{66a70a4d-574d-4791-af82-46238bb011c1}" ma:internalName="TaxCatchAll" ma:showField="CatchAllData" ma:web="67406af3-daa6-4de2-8cd4-4603eb8c16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haredWithUsers xmlns="67406af3-daa6-4de2-8cd4-4603eb8c1642">
      <UserInfo>
        <DisplayName>Markus Schwarzmann</DisplayName>
        <AccountId>12</AccountId>
        <AccountType/>
      </UserInfo>
      <UserInfo>
        <DisplayName>Matthias Ries</DisplayName>
        <AccountId>13</AccountId>
        <AccountType/>
      </UserInfo>
      <UserInfo>
        <DisplayName>Andreas Ries</DisplayName>
        <AccountId>22</AccountId>
        <AccountType/>
      </UserInfo>
      <UserInfo>
        <DisplayName>Friedrich Neubrand</DisplayName>
        <AccountId>26</AccountId>
        <AccountType/>
      </UserInfo>
    </SharedWithUsers>
    <lcf76f155ced4ddcb4097134ff3c332f xmlns="bf2c2348-ef53-4bbd-ae74-5509a85a446f">
      <Terms xmlns="http://schemas.microsoft.com/office/infopath/2007/PartnerControls"/>
    </lcf76f155ced4ddcb4097134ff3c332f>
    <TaxCatchAll xmlns="67406af3-daa6-4de2-8cd4-4603eb8c1642" xsi:nil="true"/>
  </documentManagement>
</p:properties>
</file>

<file path=customXml/itemProps1.xml><?xml version="1.0" encoding="utf-8"?>
<ds:datastoreItem xmlns:ds="http://schemas.openxmlformats.org/officeDocument/2006/customXml" ds:itemID="{67CE1897-DF66-45D8-920A-519832EF69AA}">
  <ds:schemaRefs>
    <ds:schemaRef ds:uri="http://schemas.microsoft.com/sharepoint/v3/contenttype/forms"/>
  </ds:schemaRefs>
</ds:datastoreItem>
</file>

<file path=customXml/itemProps2.xml><?xml version="1.0" encoding="utf-8"?>
<ds:datastoreItem xmlns:ds="http://schemas.openxmlformats.org/officeDocument/2006/customXml" ds:itemID="{C533FFD6-C6DE-4C70-8375-767BF02EEFA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f2c2348-ef53-4bbd-ae74-5509a85a446f"/>
    <ds:schemaRef ds:uri="67406af3-daa6-4de2-8cd4-4603eb8c164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678F1B5-69CF-4FEF-A952-D98CD6B14F3B}">
  <ds:schemaRefs>
    <ds:schemaRef ds:uri="67406af3-daa6-4de2-8cd4-4603eb8c1642"/>
    <ds:schemaRef ds:uri="bf2c2348-ef53-4bbd-ae74-5509a85a446f"/>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
  <TotalTime>0</TotalTime>
  <Words>213</Words>
  <Application>Microsoft Office PowerPoint</Application>
  <PresentationFormat>Benutzerdefiniert</PresentationFormat>
  <Paragraphs>24</Paragraphs>
  <Slides>5</Slides>
  <Notes>2</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5</vt:i4>
      </vt:variant>
    </vt:vector>
  </HeadingPairs>
  <TitlesOfParts>
    <vt:vector size="11" baseType="lpstr">
      <vt:lpstr>Helvetica</vt:lpstr>
      <vt:lpstr>Arial</vt:lpstr>
      <vt:lpstr>Calibri</vt:lpstr>
      <vt:lpstr>Aptos</vt:lpstr>
      <vt:lpstr>Canva Sans Bold</vt:lpstr>
      <vt:lpstr>Office Theme</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SSP 63 A​</dc:title>
  <cp:lastModifiedBy>Patrick Kolb</cp:lastModifiedBy>
  <cp:revision>24</cp:revision>
  <dcterms:created xsi:type="dcterms:W3CDTF">2006-08-16T00:00:00Z</dcterms:created>
  <dcterms:modified xsi:type="dcterms:W3CDTF">2025-04-08T11:39:54Z</dcterms:modified>
  <dc:identifier>DAF9hFu1N2I</dc:identifie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0x01010018CBC992F7415A49885A13C11EBC987E</vt:lpwstr>
  </property>
  <property fmtid="{D5CDD505-2E9C-101B-9397-08002B2CF9AE}" pid="3" name="MediaServiceImageTags">
    <vt:lpwstr/>
  </property>
</Properties>
</file>